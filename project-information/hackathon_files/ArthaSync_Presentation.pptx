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28090">
              <a:alpha val="12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365760"/>
            <a:ext cx="2286000" cy="2286000"/>
          </a:xfrm>
          <a:prstGeom prst="ellipse">
            <a:avLst/>
          </a:prstGeom>
          <a:solidFill>
            <a:srgbClr val="C9A84C">
              <a:alpha val="10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0" y="2743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F0C96A"/>
                </a:solidFill>
              </a:rPr>
              <a:t>अर्थशास्त्र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0" y="6583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AD"/>
                </a:solidFill>
              </a:rPr>
              <a:t>Arthashastra — 321 BC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" y="91440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spc="200" kern="0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Artha</a:t>
            </a:r>
            <a:endParaRPr lang="en-US" sz="7600" dirty="0"/>
          </a:p>
        </p:txBody>
      </p:sp>
      <p:sp>
        <p:nvSpPr>
          <p:cNvPr id="8" name="Text 6"/>
          <p:cNvSpPr/>
          <p:nvPr/>
        </p:nvSpPr>
        <p:spPr>
          <a:xfrm>
            <a:off x="347472" y="173736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</a:t>
            </a:r>
            <a:endParaRPr lang="en-US" sz="7600" dirty="0"/>
          </a:p>
        </p:txBody>
      </p:sp>
      <p:sp>
        <p:nvSpPr>
          <p:cNvPr id="9" name="Text 7"/>
          <p:cNvSpPr/>
          <p:nvPr/>
        </p:nvSpPr>
        <p:spPr>
          <a:xfrm>
            <a:off x="347472" y="28346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Unified Commerce Intelligence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7472" y="32918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B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platform. Three channels. Zero conflicts.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3767328"/>
            <a:ext cx="50292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391363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AD"/>
                </a:solidFill>
              </a:rPr>
              <a:t>Cognizant Technoverse Hackathon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" y="42062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Retail — Unified Commerce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743200" cy="530352"/>
          </a:xfrm>
          <a:prstGeom prst="rect">
            <a:avLst/>
          </a:prstGeom>
          <a:solidFill>
            <a:srgbClr val="028090">
              <a:alpha val="15000"/>
            </a:srgbClr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371600"/>
            <a:ext cx="54864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37160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Sync all channels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35040" y="2148840"/>
            <a:ext cx="2743200" cy="530352"/>
          </a:xfrm>
          <a:prstGeom prst="rect">
            <a:avLst/>
          </a:prstGeom>
          <a:solidFill>
            <a:srgbClr val="C9A84C">
              <a:alpha val="15000"/>
            </a:srgbClr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2148840"/>
            <a:ext cx="54864" cy="5303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214884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Detect conflicts with AI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35040" y="2926080"/>
            <a:ext cx="2743200" cy="530352"/>
          </a:xfrm>
          <a:prstGeom prst="rect">
            <a:avLst/>
          </a:prstGeom>
          <a:solidFill>
            <a:srgbClr val="02C39A">
              <a:alpha val="15000"/>
            </a:srgbClr>
          </a:solidFill>
          <a:ln w="10160">
            <a:solidFill>
              <a:srgbClr val="02C3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2926080"/>
            <a:ext cx="54864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292608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Generate smart insights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C9A84C">
              <a:alpha val="8000"/>
            </a:srgbClr>
          </a:solidFill>
          <a:ln w="381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INSPIRATION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321 BC — Chanakya's Arthashastra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world's first unified commerce management system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5029200" cy="1920240"/>
          </a:xfrm>
          <a:prstGeom prst="rect">
            <a:avLst/>
          </a:prstGeom>
          <a:solidFill>
            <a:srgbClr val="0A1520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9A84C"/>
                </a:solidFill>
              </a:rPr>
              <a:t>"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94360" y="1691640"/>
            <a:ext cx="4572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D8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king should ensure that all trade routes report accurate prices and stocks — so no merchant profits from false information while another suffers from ignorance.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971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84C"/>
                </a:solidFill>
              </a:rPr>
              <a:t>— Chanakya, Arthashastra, Book II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6072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</a:rPr>
              <a:t>What Chanakya solved in 321 BC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60720" y="1920240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8745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0"/>
                </a:solidFill>
              </a:rPr>
              <a:t>Standardised prices across all markets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60720" y="2450592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240487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0"/>
                </a:solidFill>
              </a:rPr>
              <a:t>Unified inventory reporting to the king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60720" y="2980944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293522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0"/>
                </a:solidFill>
              </a:rPr>
              <a:t>Detected fraud via cross-channel checks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3511296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346557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0"/>
                </a:solidFill>
              </a:rPr>
              <a:t>Generated daily trade reports for rulers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703320"/>
            <a:ext cx="8412480" cy="777240"/>
          </a:xfrm>
          <a:prstGeom prst="rect">
            <a:avLst/>
          </a:prstGeom>
          <a:solidFill>
            <a:srgbClr val="0A1520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7033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</a:rPr>
              <a:t>ArthaSync </a:t>
            </a:r>
            <a:pPr indent="0" marL="0">
              <a:buNone/>
            </a:pPr>
            <a:r>
              <a:rPr lang="en-US" sz="1400" dirty="0">
                <a:solidFill>
                  <a:srgbClr val="A8C8D8"/>
                </a:solidFill>
              </a:rPr>
              <a:t>is the digital resurrection of Chanakya's vision — syncing retail channels across web, app, and physical stores in real time.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THE PROBLEM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channels. Three truths. Zero sync.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95097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inventory mismatches daily, every missed sale is permanently gone.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2606040" cy="2331720"/>
          </a:xfrm>
          <a:prstGeom prst="rect">
            <a:avLst/>
          </a:prstGeom>
          <a:solidFill>
            <a:srgbClr val="EDF6F9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71600"/>
            <a:ext cx="260604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7160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Website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9659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28090"/>
                </a:solidFill>
              </a:rPr>
              <a:t>Shows 42 in stock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25420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Price: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254203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₹1,499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9B6A"/>
                </a:solidFill>
              </a:rPr>
              <a:t>Available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1371600"/>
            <a:ext cx="2606040" cy="2331720"/>
          </a:xfrm>
          <a:prstGeom prst="rect">
            <a:avLst/>
          </a:prstGeom>
          <a:solidFill>
            <a:srgbClr val="F0EFF9"/>
          </a:solidFill>
          <a:ln w="19050">
            <a:solidFill>
              <a:srgbClr val="6C63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371600"/>
            <a:ext cx="2606040" cy="475488"/>
          </a:xfrm>
          <a:prstGeom prst="rect">
            <a:avLst/>
          </a:prstGeom>
          <a:solidFill>
            <a:srgbClr val="6C63D6"/>
          </a:solidFill>
          <a:ln w="12700">
            <a:solidFill>
              <a:srgbClr val="6C63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37160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Mobile App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37560" y="19659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C63D6"/>
                </a:solidFill>
              </a:rPr>
              <a:t>Shows 38 in stock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337560" y="25420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Price: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69080" y="254203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63D6"/>
                </a:solidFill>
              </a:rPr>
              <a:t>₹1,349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37560" y="29260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9B6A"/>
                </a:solidFill>
              </a:rPr>
              <a:t>Available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1371600"/>
            <a:ext cx="2606040" cy="2331720"/>
          </a:xfrm>
          <a:prstGeom prst="rect">
            <a:avLst/>
          </a:prstGeom>
          <a:solidFill>
            <a:srgbClr val="FEF0EE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371600"/>
            <a:ext cx="2606040" cy="47548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37160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Physical Store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19659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63946"/>
                </a:solidFill>
              </a:rPr>
              <a:t>Actually 0 in stock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217920" y="25420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Price: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49440" y="254203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3946"/>
                </a:solidFill>
              </a:rPr>
              <a:t>₹1,499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29260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3946"/>
                </a:solidFill>
              </a:rPr>
              <a:t>OUT OF STOCK!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907792" y="2194560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3946"/>
                </a:solidFill>
              </a:rPr>
              <a:t>≠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5797296" y="2194560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3946"/>
                </a:solidFill>
              </a:rPr>
              <a:t>≠</a:t>
            </a:r>
            <a:endParaRPr lang="en-US" sz="3200" dirty="0"/>
          </a:p>
        </p:txBody>
      </p:sp>
      <p:sp>
        <p:nvSpPr>
          <p:cNvPr id="30" name="Shape 28"/>
          <p:cNvSpPr/>
          <p:nvPr/>
        </p:nvSpPr>
        <p:spPr>
          <a:xfrm>
            <a:off x="365760" y="3867912"/>
            <a:ext cx="8412480" cy="685800"/>
          </a:xfrm>
          <a:prstGeom prst="rect">
            <a:avLst/>
          </a:prstGeom>
          <a:solidFill>
            <a:srgbClr val="FEF0EE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867912"/>
            <a:ext cx="64008" cy="685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86791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63946"/>
                </a:solidFill>
              </a:rPr>
              <a:t>Customer orders online → arrives at store → item gone → refund issued → trust destroyed → revenue lost. Every. Single. Day.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The problem — up close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actually happens — step by step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5953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 real story happening across millions of Indian stores every single day.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1627632" cy="2944368"/>
          </a:xfrm>
          <a:prstGeom prst="rect">
            <a:avLst/>
          </a:prstGeom>
          <a:solidFill>
            <a:srgbClr val="F0FBF4"/>
          </a:solidFill>
          <a:ln w="15240">
            <a:solidFill>
              <a:srgbClr val="2D9B6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98448"/>
            <a:ext cx="1627632" cy="438912"/>
          </a:xfrm>
          <a:prstGeom prst="rect">
            <a:avLst/>
          </a:prstGeom>
          <a:solidFill>
            <a:srgbClr val="2D9B6A"/>
          </a:solidFill>
          <a:ln w="12700">
            <a:solidFill>
              <a:srgbClr val="2D9B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9844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810512"/>
            <a:ext cx="1627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9B6A"/>
                </a:solidFill>
              </a:rPr>
              <a:t>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93192" y="2340864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9B6A"/>
                </a:solidFill>
              </a:rPr>
              <a:t>Customer orders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16352"/>
            <a:ext cx="1353312" cy="0"/>
          </a:xfrm>
          <a:prstGeom prst="line">
            <a:avLst/>
          </a:prstGeom>
          <a:noFill/>
          <a:ln w="5080">
            <a:solidFill>
              <a:srgbClr val="2D9B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2871216"/>
            <a:ext cx="1481328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Sees shoes in stock on website. Price: 1499. Pays online. Order confirmed.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47672" y="2743200"/>
            <a:ext cx="128016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84248" y="260604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&gt;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075688" y="1298448"/>
            <a:ext cx="1627632" cy="2944368"/>
          </a:xfrm>
          <a:prstGeom prst="rect">
            <a:avLst/>
          </a:prstGeom>
          <a:solidFill>
            <a:srgbClr val="FEF8EE"/>
          </a:solidFill>
          <a:ln w="15240">
            <a:solidFill>
              <a:srgbClr val="F4A2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75688" y="1298448"/>
            <a:ext cx="1627632" cy="43891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75688" y="129844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75688" y="1810512"/>
            <a:ext cx="1627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</a:rPr>
              <a:t>?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148840" y="2340864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Store checks stock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12848" y="2816352"/>
            <a:ext cx="1353312" cy="0"/>
          </a:xfrm>
          <a:prstGeom prst="line">
            <a:avLst/>
          </a:prstGeom>
          <a:noFill/>
          <a:ln w="508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48840" y="2871216"/>
            <a:ext cx="1481328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Staff checks physical shelf. Empty. POS never updated when last pair sold.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703320" y="2743200"/>
            <a:ext cx="128016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39896" y="260604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&gt;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31336" y="1298448"/>
            <a:ext cx="1627632" cy="2944368"/>
          </a:xfrm>
          <a:prstGeom prst="rect">
            <a:avLst/>
          </a:prstGeom>
          <a:solidFill>
            <a:srgbClr val="FEF8EE"/>
          </a:solidFill>
          <a:ln w="15240">
            <a:solidFill>
              <a:srgbClr val="F4A2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31336" y="1298448"/>
            <a:ext cx="1627632" cy="43891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31336" y="129844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31336" y="1810512"/>
            <a:ext cx="1627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</a:rPr>
              <a:t>!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904488" y="2340864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App shows wrong data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968496" y="2816352"/>
            <a:ext cx="1353312" cy="0"/>
          </a:xfrm>
          <a:prstGeom prst="line">
            <a:avLst/>
          </a:prstGeom>
          <a:noFill/>
          <a:ln w="508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04488" y="2871216"/>
            <a:ext cx="1481328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App says 12 in stock. That number is 3 days old. Nobody synced it.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58968" y="2743200"/>
            <a:ext cx="128016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95544" y="260604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&gt;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586984" y="1298448"/>
            <a:ext cx="1627632" cy="2944368"/>
          </a:xfrm>
          <a:prstGeom prst="rect">
            <a:avLst/>
          </a:prstGeom>
          <a:solidFill>
            <a:srgbClr val="FEF0EE"/>
          </a:solidFill>
          <a:ln w="15240">
            <a:solidFill>
              <a:srgbClr val="E6394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586984" y="1298448"/>
            <a:ext cx="1627632" cy="43891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86984" y="129844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586984" y="1810512"/>
            <a:ext cx="1627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3946"/>
                </a:solidFill>
              </a:rPr>
              <a:t>X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660136" y="2340864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Customer calls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724144" y="2816352"/>
            <a:ext cx="1353312" cy="0"/>
          </a:xfrm>
          <a:prstGeom prst="line">
            <a:avLst/>
          </a:prstGeom>
          <a:noFill/>
          <a:ln w="5080">
            <a:solidFill>
              <a:srgbClr val="E6394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0136" y="2871216"/>
            <a:ext cx="1481328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Delivery late. Customer calls angry. Order cancelled. Refund processed.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214616" y="2743200"/>
            <a:ext cx="128016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51192" y="260604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&gt;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342632" y="1298448"/>
            <a:ext cx="1627632" cy="2944368"/>
          </a:xfrm>
          <a:prstGeom prst="rect">
            <a:avLst/>
          </a:prstGeom>
          <a:solidFill>
            <a:srgbClr val="FEF0EE"/>
          </a:solidFill>
          <a:ln w="15240">
            <a:solidFill>
              <a:srgbClr val="E6394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342632" y="1298448"/>
            <a:ext cx="1627632" cy="43891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42632" y="129844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342632" y="1810512"/>
            <a:ext cx="1627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3946"/>
                </a:solidFill>
              </a:rPr>
              <a:t>$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7415784" y="2340864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Revenue lost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79792" y="2816352"/>
            <a:ext cx="1353312" cy="0"/>
          </a:xfrm>
          <a:prstGeom prst="line">
            <a:avLst/>
          </a:prstGeom>
          <a:noFill/>
          <a:ln w="5080">
            <a:solidFill>
              <a:srgbClr val="E6394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15784" y="2871216"/>
            <a:ext cx="1481328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1499 gone. Refund fee paid. Customer leaves 1-star review. Never returns.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20040" y="4462272"/>
            <a:ext cx="8485632" cy="438912"/>
          </a:xfrm>
          <a:prstGeom prst="rect">
            <a:avLst/>
          </a:prstGeom>
          <a:solidFill>
            <a:srgbClr val="FEF0EE"/>
          </a:solidFill>
          <a:ln w="10160">
            <a:solidFill>
              <a:srgbClr val="E6394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0040" y="4462272"/>
            <a:ext cx="64008" cy="43891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" y="446227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3946"/>
                </a:solidFill>
              </a:rPr>
              <a:t>Root cause: Web, App and POS all hold different stock numbers. Nobody watches all three at once. ArthaSync fixes exactly this.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₹1.6 trillion problem — largely unsolved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Indian retail has 63M SMEs. Fewer than 5% have unified commerce infrastructure.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463040"/>
            <a:ext cx="1965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B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1508760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63M+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47472" y="203911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SMEs in Indian retail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87168" y="1463040"/>
            <a:ext cx="1965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B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87168" y="1508760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&lt;5%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87168" y="203911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have unified systems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1463040"/>
            <a:ext cx="1965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B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508760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17720" y="203911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revenue lost to sync failures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48272" y="1463040"/>
            <a:ext cx="1965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B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48272" y="1508760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hrs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748272" y="203911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weekly manual reconciliation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" y="2651760"/>
            <a:ext cx="8430768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EB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2651760"/>
            <a:ext cx="73152" cy="1783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7249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Market sizing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1272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Indian e-commerce market 2026: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1272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₹10.6 lakh crore (NASSCOM)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351129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Omnichannel retail software TAM: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35112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$4.8B globally by 2028 (Gartner)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389534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Avg loss per SME from poor sync: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389534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₹2.4L annually (Deloitte India)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THE SOLUTION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ArthaSync? (Simple explanation)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298448"/>
            <a:ext cx="8430768" cy="1115568"/>
          </a:xfrm>
          <a:prstGeom prst="rect">
            <a:avLst/>
          </a:prstGeom>
          <a:solidFill>
            <a:srgbClr val="0A1820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371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Simple analogy: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166420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8C8D8"/>
                </a:solidFill>
              </a:rPr>
              <a:t>Imagine your shop has price tags on a website, a mobile app, and a physical shelf. ArthaSync is a smart AI robot that watches all three at the same time. The moment any tag shows a different number, it alerts you instantly and tells you in plain language exactly what to fix — and why.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7472" y="2542032"/>
            <a:ext cx="2606040" cy="2304288"/>
          </a:xfrm>
          <a:prstGeom prst="rect">
            <a:avLst/>
          </a:prstGeom>
          <a:solidFill>
            <a:srgbClr val="0E2235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578608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300" kern="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12064" y="3054096"/>
            <a:ext cx="2276856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3127248"/>
            <a:ext cx="235000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ECAD8"/>
                </a:solidFill>
              </a:rPr>
              <a:t>Watches all 3 channels every 60 seconds. Builds one live unified snapshot of your entire inventory and pricing.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2542032"/>
            <a:ext cx="2606040" cy="2304288"/>
          </a:xfrm>
          <a:prstGeom prst="rect">
            <a:avLst/>
          </a:prstGeom>
          <a:solidFill>
            <a:srgbClr val="0E2235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2578608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300" kern="0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410712" y="3054096"/>
            <a:ext cx="2276856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74136" y="3127248"/>
            <a:ext cx="235000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ECAD8"/>
                </a:solidFill>
              </a:rPr>
              <a:t>AI agent scans the snapshot for mismatches — price conflicts, oversell risks, promo gaps — automatically.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44768" y="2542032"/>
            <a:ext cx="2606040" cy="2304288"/>
          </a:xfrm>
          <a:prstGeom prst="rect">
            <a:avLst/>
          </a:prstGeom>
          <a:solidFill>
            <a:srgbClr val="0E2235"/>
          </a:solidFill>
          <a:ln w="1016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2578608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300" kern="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309360" y="3054096"/>
            <a:ext cx="2276856" cy="0"/>
          </a:xfrm>
          <a:prstGeom prst="line">
            <a:avLst/>
          </a:prstGeom>
          <a:noFill/>
          <a:ln w="635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72784" y="3127248"/>
            <a:ext cx="235000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ECAD8"/>
                </a:solidFill>
              </a:rPr>
              <a:t>LLM writes a plain-English daily brief for the store manager. Specific numbers, clear actions, no jargon.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HOW IT FIXES IT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ArthaSync in action — 4 simple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6926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AD"/>
                </a:solidFill>
              </a:rPr>
              <a:t>Same problem from Slide 3B — now solved by ArthaSync in real time.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389888"/>
            <a:ext cx="8430768" cy="749808"/>
          </a:xfrm>
          <a:prstGeom prst="rect">
            <a:avLst/>
          </a:prstGeom>
          <a:solidFill>
            <a:srgbClr val="152231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389888"/>
            <a:ext cx="658368" cy="749808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389888"/>
            <a:ext cx="658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79792" y="1591056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028090">
              <a:alpha val="2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79792" y="159105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Every 60 seconds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1444752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Sync agent wakes up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1792224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</a:rPr>
              <a:t>Before: 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55648" y="1792224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BAD"/>
                </a:solidFill>
              </a:rPr>
              <a:t>Web: 42 units  App: 38 units  POS: 0 units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97280" y="1956816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After: 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755648" y="1956816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0"/>
                </a:solidFill>
              </a:rPr>
              <a:t>ArthaSync fetches all three in one call every 60 seconds and builds a single unified snapshot automatically.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2249424"/>
            <a:ext cx="8430768" cy="749808"/>
          </a:xfrm>
          <a:prstGeom prst="rect">
            <a:avLst/>
          </a:prstGeom>
          <a:solidFill>
            <a:srgbClr val="152231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2249424"/>
            <a:ext cx="658368" cy="749808"/>
          </a:xfrm>
          <a:prstGeom prst="rect">
            <a:avLst/>
          </a:prstGeom>
          <a:solidFill>
            <a:srgbClr val="C9A84C">
              <a:alpha val="8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249424"/>
            <a:ext cx="658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</a:rPr>
              <a:t>02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479792" y="2450592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C9A84C">
              <a:alpha val="20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79792" y="245059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</a:rPr>
              <a:t>Instant detection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" y="2304288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Conflict agent scans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2651760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</a:rPr>
              <a:t>Before: 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755648" y="2651760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BAD"/>
                </a:solidFill>
              </a:rPr>
              <a:t>Price on app = 1349  Price on web = 1499  Difference = 150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97280" y="2816352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</a:rPr>
              <a:t>After: 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755648" y="2816352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0"/>
                </a:solidFill>
              </a:rPr>
              <a:t>AI agent compares every SKU across channels. Flags: price mismatch (high severity) + oversell risk on POS stock = 0.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7472" y="3108960"/>
            <a:ext cx="8430768" cy="749808"/>
          </a:xfrm>
          <a:prstGeom prst="rect">
            <a:avLst/>
          </a:prstGeom>
          <a:solidFill>
            <a:srgbClr val="152231"/>
          </a:solidFill>
          <a:ln w="10160">
            <a:solidFill>
              <a:srgbClr val="02C39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3108960"/>
            <a:ext cx="658368" cy="749808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108960"/>
            <a:ext cx="658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03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479792" y="3310128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02C39A">
              <a:alpha val="20000"/>
            </a:srgbClr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79792" y="331012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Plain English AI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" y="3163824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Insight agent writes the brief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97280" y="3511296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</a:rPr>
              <a:t>Before: 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755648" y="3511296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BAD"/>
                </a:solidFill>
              </a:rPr>
              <a:t>Raw conflict data: {sku: SKU-101, type: price_mismatch, delta: 150}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097280" y="3675888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After: 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755648" y="3675888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0"/>
                </a:solidFill>
              </a:rPr>
              <a:t>LLM turns that into plain English: 'Running Shoes app price is 150 lower than web. Fix app price to 1499 immediately to avoid margin loss.'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47472" y="3968496"/>
            <a:ext cx="8430768" cy="749808"/>
          </a:xfrm>
          <a:prstGeom prst="rect">
            <a:avLst/>
          </a:prstGeom>
          <a:solidFill>
            <a:srgbClr val="152231"/>
          </a:solidFill>
          <a:ln w="10160">
            <a:solidFill>
              <a:srgbClr val="6C63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7472" y="3968496"/>
            <a:ext cx="658368" cy="749808"/>
          </a:xfrm>
          <a:prstGeom prst="rect">
            <a:avLst/>
          </a:prstGeom>
          <a:solidFill>
            <a:srgbClr val="6C63D6">
              <a:alpha val="80000"/>
            </a:srgbClr>
          </a:solidFill>
          <a:ln w="12700">
            <a:solidFill>
              <a:srgbClr val="6C63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3968496"/>
            <a:ext cx="658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63D6"/>
                </a:solidFill>
              </a:rPr>
              <a:t>04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7479792" y="4169664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6C63D6">
              <a:alpha val="20000"/>
            </a:srgbClr>
          </a:solidFill>
          <a:ln w="6350">
            <a:solidFill>
              <a:srgbClr val="6C63D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79792" y="416966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63D6"/>
                </a:solidFill>
              </a:rPr>
              <a:t>Action in minutes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97280" y="4023360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Manager acts — problem solved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097280" y="4370832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</a:rPr>
              <a:t>Before: 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755648" y="4370832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BAD"/>
                </a:solidFill>
              </a:rPr>
              <a:t>Manager sees alert on React dashboard in real time with exact numbers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097280" y="4535424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63D6"/>
                </a:solidFill>
              </a:rPr>
              <a:t>After: 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755648" y="4535424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0"/>
                </a:solidFill>
              </a:rPr>
              <a:t>Fixes price in 2 minutes. No customer is ever affected. No refund issued. No trust lost. Revenue protected.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47472" y="4864608"/>
            <a:ext cx="8430768" cy="164592"/>
          </a:xfrm>
          <a:prstGeom prst="rect">
            <a:avLst/>
          </a:prstGeom>
          <a:solidFill>
            <a:srgbClr val="02C39A">
              <a:alpha val="80000"/>
            </a:srgbClr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86460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Result: Zero overselling. Zero price conflicts. Zero manual reconciliation. One unified truth across all channels.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ARCHITECTURE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 — end to end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298448"/>
            <a:ext cx="1463040" cy="713232"/>
          </a:xfrm>
          <a:prstGeom prst="rect">
            <a:avLst/>
          </a:prstGeom>
          <a:solidFill>
            <a:srgbClr val="15223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29844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Web Store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16642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AD"/>
                </a:solidFill>
              </a:rPr>
              <a:t>REST API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74520" y="1298448"/>
            <a:ext cx="1463040" cy="713232"/>
          </a:xfrm>
          <a:prstGeom prst="rect">
            <a:avLst/>
          </a:prstGeom>
          <a:solidFill>
            <a:srgbClr val="152231"/>
          </a:solidFill>
          <a:ln w="12700">
            <a:solidFill>
              <a:srgbClr val="6C63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129844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63D6"/>
                </a:solidFill>
              </a:rPr>
              <a:t>Mobile App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74520" y="16642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AD"/>
                </a:solidFill>
              </a:rPr>
              <a:t>REST API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20440" y="1298448"/>
            <a:ext cx="1463040" cy="713232"/>
          </a:xfrm>
          <a:prstGeom prst="rect">
            <a:avLst/>
          </a:prstGeom>
          <a:solidFill>
            <a:srgbClr val="15223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29844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POS Store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16642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AD"/>
                </a:solidFill>
              </a:rPr>
              <a:t>Webhook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" y="117043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</a:rPr>
              <a:t>Data sources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60120" y="2011680"/>
            <a:ext cx="0" cy="384048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5256" y="2322576"/>
            <a:ext cx="109728" cy="10972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06040" y="2011680"/>
            <a:ext cx="0" cy="384048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1176" y="2322576"/>
            <a:ext cx="109728" cy="10972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51960" y="2011680"/>
            <a:ext cx="0" cy="384048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97096" y="2322576"/>
            <a:ext cx="109728" cy="10972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2432304"/>
            <a:ext cx="4846320" cy="658368"/>
          </a:xfrm>
          <a:prstGeom prst="rect">
            <a:avLst/>
          </a:prstGeom>
          <a:solidFill>
            <a:srgbClr val="028090">
              <a:alpha val="85000"/>
            </a:srgbClr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28600" y="2432304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FastAPI — Sync Layer &amp; Webhook Receiver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74920" y="2724912"/>
            <a:ext cx="4572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58968" y="2670048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77840" y="1261872"/>
            <a:ext cx="3246120" cy="3017520"/>
          </a:xfrm>
          <a:prstGeom prst="rect">
            <a:avLst/>
          </a:prstGeom>
          <a:solidFill>
            <a:srgbClr val="0A1825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12618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LangGraph Pipeline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15000" y="1719072"/>
            <a:ext cx="2971800" cy="548640"/>
          </a:xfrm>
          <a:prstGeom prst="rect">
            <a:avLst/>
          </a:prstGeom>
          <a:solidFill>
            <a:srgbClr val="152231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79008" y="1719072"/>
            <a:ext cx="2843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Sync Agent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79008" y="1993392"/>
            <a:ext cx="2843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AD"/>
                </a:solidFill>
              </a:rPr>
              <a:t>Polls &amp; normalises data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205472" y="2267712"/>
            <a:ext cx="0" cy="347472"/>
          </a:xfrm>
          <a:prstGeom prst="line">
            <a:avLst/>
          </a:prstGeom>
          <a:noFill/>
          <a:ln w="10160">
            <a:solidFill>
              <a:srgbClr val="6B72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15000" y="2404872"/>
            <a:ext cx="2971800" cy="548640"/>
          </a:xfrm>
          <a:prstGeom prst="rect">
            <a:avLst/>
          </a:prstGeom>
          <a:solidFill>
            <a:srgbClr val="152231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79008" y="2404872"/>
            <a:ext cx="2843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Conflict Agent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79008" y="2679192"/>
            <a:ext cx="2843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AD"/>
                </a:solidFill>
              </a:rPr>
              <a:t>Detects mismatches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05472" y="2953512"/>
            <a:ext cx="0" cy="347472"/>
          </a:xfrm>
          <a:prstGeom prst="line">
            <a:avLst/>
          </a:prstGeom>
          <a:noFill/>
          <a:ln w="10160">
            <a:solidFill>
              <a:srgbClr val="6B72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15000" y="3090672"/>
            <a:ext cx="2971800" cy="548640"/>
          </a:xfrm>
          <a:prstGeom prst="rect">
            <a:avLst/>
          </a:prstGeom>
          <a:solidFill>
            <a:srgbClr val="152231"/>
          </a:solidFill>
          <a:ln w="1016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79008" y="3090672"/>
            <a:ext cx="2843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Insight Agent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779008" y="3364992"/>
            <a:ext cx="2843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AD"/>
                </a:solidFill>
              </a:rPr>
              <a:t>LLM → plain-English brief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651760" y="3090672"/>
            <a:ext cx="0" cy="41148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96896" y="3429000"/>
            <a:ext cx="109728" cy="10972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8600" y="3538728"/>
            <a:ext cx="4846320" cy="566928"/>
          </a:xfrm>
          <a:prstGeom prst="rect">
            <a:avLst/>
          </a:prstGeom>
          <a:solidFill>
            <a:srgbClr val="6C63D6">
              <a:alpha val="85000"/>
            </a:srgbClr>
          </a:solidFill>
          <a:ln w="15240">
            <a:solidFill>
              <a:srgbClr val="6C63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" y="3538728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PostgreSQL — Unified Data Store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228600" y="4279392"/>
            <a:ext cx="8595360" cy="566928"/>
          </a:xfrm>
          <a:prstGeom prst="rect">
            <a:avLst/>
          </a:prstGeom>
          <a:solidFill>
            <a:srgbClr val="02C39A">
              <a:alpha val="90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8600" y="4279392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React Dashboard — Channel Overview · Conflict Alerts · AI Insight Feed · Analytics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651760" y="4105656"/>
            <a:ext cx="0" cy="16459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77840" y="3611880"/>
            <a:ext cx="-5029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5577840" y="4251960"/>
            <a:ext cx="3246120" cy="594360"/>
          </a:xfrm>
          <a:prstGeom prst="roundRect">
            <a:avLst>
              <a:gd name="adj" fmla="val 12308"/>
            </a:avLst>
          </a:prstGeom>
          <a:solidFill>
            <a:srgbClr val="0A1825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77840" y="425196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A261"/>
                </a:solidFill>
              </a:rPr>
              <a:t>Deployed on AWS  (EC2 + Lambda + S3 + RDS)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AI AGENTS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agents. One pipeline. Complete intelligence.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298448"/>
            <a:ext cx="8430768" cy="1078992"/>
          </a:xfrm>
          <a:prstGeom prst="rect">
            <a:avLst/>
          </a:prstGeom>
          <a:solidFill>
            <a:srgbClr val="15223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298448"/>
            <a:ext cx="658368" cy="1078992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98448"/>
            <a:ext cx="6583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8992" y="13533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Sync Agent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16642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Input: 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91640" y="1664208"/>
            <a:ext cx="6903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AD8"/>
                </a:solidFill>
              </a:rPr>
              <a:t>Fetches real-time data from web store API, mobile app API, and POS webhook every 60 seconds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78992" y="18928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How: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91640" y="1892808"/>
            <a:ext cx="6903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AD8"/>
                </a:solidFill>
              </a:rPr>
              <a:t>Normalises all three data formats into a single unified Python dict, then writes to PostgreSQL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78992" y="210312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Output: 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19072" y="2103120"/>
            <a:ext cx="6876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Unified inventory snapshot with stock + price for every SKU across all channels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430768" y="2377440"/>
            <a:ext cx="0" cy="128016"/>
          </a:xfrm>
          <a:prstGeom prst="line">
            <a:avLst/>
          </a:prstGeom>
          <a:noFill/>
          <a:ln w="10160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2505456"/>
            <a:ext cx="8430768" cy="1078992"/>
          </a:xfrm>
          <a:prstGeom prst="rect">
            <a:avLst/>
          </a:prstGeom>
          <a:solidFill>
            <a:srgbClr val="15223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2505456"/>
            <a:ext cx="658368" cy="1078992"/>
          </a:xfrm>
          <a:prstGeom prst="rect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505456"/>
            <a:ext cx="6583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</a:rPr>
              <a:t>02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78992" y="2560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</a:rPr>
              <a:t>Conflict Agent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78992" y="287121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Input: 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91640" y="2871216"/>
            <a:ext cx="6903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AD8"/>
                </a:solidFill>
              </a:rPr>
              <a:t>Scans the unified snapshot and checks every SKU for pricing mismatches and oversell risks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78992" y="309981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How: 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91640" y="3099816"/>
            <a:ext cx="6903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AD8"/>
                </a:solidFill>
              </a:rPr>
              <a:t>Pure Python logic: if price delta &gt; ₹20 across channels OR POS stock=0 while online shows stock &gt; 10, flag it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78992" y="3310128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</a:rPr>
              <a:t>Output: 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719072" y="3310128"/>
            <a:ext cx="6876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List of conflict objects with SKU, type, severity (high/medium), and exact numbers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430768" y="3584448"/>
            <a:ext cx="0" cy="128016"/>
          </a:xfrm>
          <a:prstGeom prst="line">
            <a:avLst/>
          </a:prstGeom>
          <a:noFill/>
          <a:ln w="10160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3712464"/>
            <a:ext cx="8430768" cy="1078992"/>
          </a:xfrm>
          <a:prstGeom prst="rect">
            <a:avLst/>
          </a:prstGeom>
          <a:solidFill>
            <a:srgbClr val="152231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" y="3712464"/>
            <a:ext cx="658368" cy="1078992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712464"/>
            <a:ext cx="6583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03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78992" y="37673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Insight Agent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78992" y="4078224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Input: 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691640" y="4078224"/>
            <a:ext cx="6903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AD8"/>
                </a:solidFill>
              </a:rPr>
              <a:t>Takes the conflict list and unified data, calls an LLM to generate a manager-readable daily brief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78992" y="4306824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How: 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691640" y="4306824"/>
            <a:ext cx="6903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AD8"/>
                </a:solidFill>
              </a:rPr>
              <a:t>LangChain ChatModel call with a structured prompt. Works with AWS Bedrock Claude Haiku in production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78992" y="45171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Output: 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719072" y="4517136"/>
            <a:ext cx="6876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3–5 bullet-point plain-English brief: 'SKU-101 Running Shoes: price ₹150 lower on app than web. Fix immediately.'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TECH STACK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 — 100% Cognizant approved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tool in this stack is explicitly listed in the hackathon guidelines.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" y="1417320"/>
            <a:ext cx="27432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417320"/>
            <a:ext cx="274320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4173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" y="1993392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93852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</a:rPr>
              <a:t>React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30352" y="2313432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2585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</a:rPr>
              <a:t>Axios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30352" y="2633472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5786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</a:rPr>
              <a:t>CSS Modules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73552" y="1417320"/>
            <a:ext cx="27432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6C63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73552" y="1417320"/>
            <a:ext cx="2743200" cy="438912"/>
          </a:xfrm>
          <a:prstGeom prst="rect">
            <a:avLst/>
          </a:prstGeom>
          <a:solidFill>
            <a:srgbClr val="6C63D6"/>
          </a:solidFill>
          <a:ln w="12700">
            <a:solidFill>
              <a:srgbClr val="6C63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73552" y="14173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56432" y="1993392"/>
            <a:ext cx="109728" cy="109728"/>
          </a:xfrm>
          <a:prstGeom prst="ellipse">
            <a:avLst/>
          </a:prstGeom>
          <a:solidFill>
            <a:srgbClr val="6C63D6"/>
          </a:solidFill>
          <a:ln w="12700">
            <a:solidFill>
              <a:srgbClr val="6C63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39312" y="193852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</a:rPr>
              <a:t>FastAPI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456432" y="2313432"/>
            <a:ext cx="109728" cy="109728"/>
          </a:xfrm>
          <a:prstGeom prst="ellipse">
            <a:avLst/>
          </a:prstGeom>
          <a:solidFill>
            <a:srgbClr val="6C63D6"/>
          </a:solidFill>
          <a:ln w="12700">
            <a:solidFill>
              <a:srgbClr val="6C63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9312" y="22585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</a:rPr>
              <a:t>Python 3.11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456432" y="2633472"/>
            <a:ext cx="109728" cy="109728"/>
          </a:xfrm>
          <a:prstGeom prst="ellipse">
            <a:avLst/>
          </a:prstGeom>
          <a:solidFill>
            <a:srgbClr val="6C63D6"/>
          </a:solidFill>
          <a:ln w="12700">
            <a:solidFill>
              <a:srgbClr val="6C63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39312" y="25786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</a:rPr>
              <a:t>SQLAlchemy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99632" y="1417320"/>
            <a:ext cx="27432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99632" y="1417320"/>
            <a:ext cx="2743200" cy="4389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9632" y="14173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Agents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82512" y="1993392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5392" y="193852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</a:rPr>
              <a:t>LangGraph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82512" y="2313432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5392" y="22585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</a:rPr>
              <a:t>LangChain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82512" y="2633472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65392" y="25786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</a:rPr>
              <a:t>AWS Bedrock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347472" y="3246120"/>
            <a:ext cx="27432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47472" y="3246120"/>
            <a:ext cx="2743200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32461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Database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30352" y="3822192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376732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</a:rPr>
              <a:t>PostgreSQL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30352" y="4142232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" y="40873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</a:rPr>
              <a:t>AWS RDS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30352" y="4462272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44074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</a:rPr>
              <a:t>JSON columns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3273552" y="3246120"/>
            <a:ext cx="27432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73552" y="3246120"/>
            <a:ext cx="2743200" cy="43891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73552" y="32461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AWS Cloud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456432" y="3822192"/>
            <a:ext cx="109728" cy="1097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39312" y="376732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</a:rPr>
              <a:t>EC2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3456432" y="4142232"/>
            <a:ext cx="109728" cy="1097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39312" y="40873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</a:rPr>
              <a:t>Lambda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3456432" y="4462272"/>
            <a:ext cx="109728" cy="1097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39312" y="44074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</a:rPr>
              <a:t>S3 + CloudFront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6199632" y="3246120"/>
            <a:ext cx="27432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199632" y="3246120"/>
            <a:ext cx="2743200" cy="43891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99632" y="32461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 LLM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382512" y="3822192"/>
            <a:ext cx="109728" cy="10972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65392" y="376732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</a:rPr>
              <a:t>Claude Haiku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6382512" y="4142232"/>
            <a:ext cx="109728" cy="10972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65392" y="40873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</a:rPr>
              <a:t>Bedrock API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6382512" y="4462272"/>
            <a:ext cx="109728" cy="10972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65392" y="44074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</a:rPr>
              <a:t>LangChain AWS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IMPLEMENTATION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phases — from setup to working product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298448"/>
            <a:ext cx="2743200" cy="1600200"/>
          </a:xfrm>
          <a:prstGeom prst="rect">
            <a:avLst/>
          </a:prstGeom>
          <a:solidFill>
            <a:srgbClr val="152231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298448"/>
            <a:ext cx="2743200" cy="457200"/>
          </a:xfrm>
          <a:prstGeom prst="rect">
            <a:avLst/>
          </a:prstGeom>
          <a:solidFill>
            <a:srgbClr val="6B7280">
              <a:alpha val="80000"/>
            </a:srgbClr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9844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Phase 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19072" y="129844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9BAD"/>
                </a:solidFill>
              </a:rPr>
              <a:t>20 min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80136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Project Setup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5488" y="2194560"/>
            <a:ext cx="91440" cy="9144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139696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AD8"/>
                </a:solidFill>
              </a:rPr>
              <a:t>Python venv + pip install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" y="2468880"/>
            <a:ext cx="91440" cy="9144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414016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AD8"/>
                </a:solidFill>
              </a:rPr>
              <a:t>React app + npm install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" y="2743200"/>
            <a:ext cx="91440" cy="9144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688336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AD8"/>
                </a:solidFill>
              </a:rPr>
              <a:t>Folder structure created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73552" y="1298448"/>
            <a:ext cx="2743200" cy="1600200"/>
          </a:xfrm>
          <a:prstGeom prst="rect">
            <a:avLst/>
          </a:prstGeom>
          <a:solidFill>
            <a:srgbClr val="15223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73552" y="1298448"/>
            <a:ext cx="2743200" cy="457200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129844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Phase 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5152" y="129844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9BAD"/>
                </a:solidFill>
              </a:rPr>
              <a:t>20 min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180136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Mock Data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401568" y="2194560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7872" y="2139696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AD8"/>
                </a:solidFill>
              </a:rPr>
              <a:t>3 channel simulators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01568" y="2468880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47872" y="2414016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AD8"/>
                </a:solidFill>
              </a:rPr>
              <a:t>Random conflicts built-in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01568" y="2743200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47872" y="2688336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AD8"/>
                </a:solidFill>
              </a:rPr>
              <a:t>Testable instantly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99632" y="1298448"/>
            <a:ext cx="2743200" cy="1600200"/>
          </a:xfrm>
          <a:prstGeom prst="rect">
            <a:avLst/>
          </a:prstGeom>
          <a:solidFill>
            <a:srgbClr val="152231"/>
          </a:solidFill>
          <a:ln w="12700">
            <a:solidFill>
              <a:srgbClr val="6C63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99632" y="1298448"/>
            <a:ext cx="2743200" cy="457200"/>
          </a:xfrm>
          <a:prstGeom prst="rect">
            <a:avLst/>
          </a:prstGeom>
          <a:solidFill>
            <a:srgbClr val="6C63D6">
              <a:alpha val="80000"/>
            </a:srgbClr>
          </a:solidFill>
          <a:ln w="12700">
            <a:solidFill>
              <a:srgbClr val="6C63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91072" y="129844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3D6"/>
                </a:solidFill>
              </a:rPr>
              <a:t>Phase 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571232" y="129844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9BAD"/>
                </a:solidFill>
              </a:rPr>
              <a:t>25 min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180136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Database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327648" y="2194560"/>
            <a:ext cx="91440" cy="91440"/>
          </a:xfrm>
          <a:prstGeom prst="ellipse">
            <a:avLst/>
          </a:prstGeom>
          <a:solidFill>
            <a:srgbClr val="6C63D6"/>
          </a:solidFill>
          <a:ln w="12700">
            <a:solidFill>
              <a:srgbClr val="6C63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73952" y="2139696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AD8"/>
                </a:solidFill>
              </a:rPr>
              <a:t>PostgreSQL + SQLAlchemy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27648" y="2468880"/>
            <a:ext cx="91440" cy="91440"/>
          </a:xfrm>
          <a:prstGeom prst="ellipse">
            <a:avLst/>
          </a:prstGeom>
          <a:solidFill>
            <a:srgbClr val="6C63D6"/>
          </a:solidFill>
          <a:ln w="12700">
            <a:solidFill>
              <a:srgbClr val="6C63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73952" y="2414016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AD8"/>
                </a:solidFill>
              </a:rPr>
              <a:t>3 tables: inventory, conflicts, insights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27648" y="2743200"/>
            <a:ext cx="91440" cy="91440"/>
          </a:xfrm>
          <a:prstGeom prst="ellipse">
            <a:avLst/>
          </a:prstGeom>
          <a:solidFill>
            <a:srgbClr val="6C63D6"/>
          </a:solidFill>
          <a:ln w="12700">
            <a:solidFill>
              <a:srgbClr val="6C63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73952" y="2688336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AD8"/>
                </a:solidFill>
              </a:rPr>
              <a:t>create_tables.py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7472" y="3081528"/>
            <a:ext cx="2743200" cy="1600200"/>
          </a:xfrm>
          <a:prstGeom prst="rect">
            <a:avLst/>
          </a:prstGeom>
          <a:solidFill>
            <a:srgbClr val="15223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7472" y="3081528"/>
            <a:ext cx="2743200" cy="457200"/>
          </a:xfrm>
          <a:prstGeom prst="rect">
            <a:avLst/>
          </a:prstGeom>
          <a:solidFill>
            <a:srgbClr val="C9A84C">
              <a:alpha val="8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" y="30815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Phase 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719072" y="30815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9BAD"/>
                </a:solidFill>
              </a:rPr>
              <a:t>45 min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358444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LangGraph Agents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475488" y="3977640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" y="3922776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AD8"/>
                </a:solidFill>
              </a:rPr>
              <a:t>sync_node → conflict_node → insight_node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5488" y="4251960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" y="4197096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AD8"/>
                </a:solidFill>
              </a:rPr>
              <a:t>LLM brief generation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5488" y="4526280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" y="4471416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AD8"/>
                </a:solidFill>
              </a:rPr>
              <a:t>Standalone test first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273552" y="3081528"/>
            <a:ext cx="2743200" cy="1600200"/>
          </a:xfrm>
          <a:prstGeom prst="rect">
            <a:avLst/>
          </a:prstGeom>
          <a:solidFill>
            <a:srgbClr val="15223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73552" y="3081528"/>
            <a:ext cx="2743200" cy="457200"/>
          </a:xfrm>
          <a:prstGeom prst="rect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64992" y="30815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Phase 4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645152" y="30815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9BAD"/>
                </a:solidFill>
              </a:rPr>
              <a:t>30 min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383280" y="358444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FastAPI Backend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3401568" y="3977640"/>
            <a:ext cx="91440" cy="914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47872" y="3922776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AD8"/>
                </a:solidFill>
              </a:rPr>
              <a:t>/sync POST endpoint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401568" y="4251960"/>
            <a:ext cx="91440" cy="914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47872" y="4197096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AD8"/>
                </a:solidFill>
              </a:rPr>
              <a:t>GET inventory, conflicts, insights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401568" y="4526280"/>
            <a:ext cx="91440" cy="914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547872" y="4471416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AD8"/>
                </a:solidFill>
              </a:rPr>
              <a:t>CORS for React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199632" y="3081528"/>
            <a:ext cx="2743200" cy="1600200"/>
          </a:xfrm>
          <a:prstGeom prst="rect">
            <a:avLst/>
          </a:prstGeom>
          <a:solidFill>
            <a:srgbClr val="152231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99632" y="3081528"/>
            <a:ext cx="2743200" cy="457200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91072" y="30815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Phase 5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571232" y="30815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9BAD"/>
                </a:solidFill>
              </a:rPr>
              <a:t>45 min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309360" y="358444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React Frontend</a:t>
            </a:r>
            <a:endParaRPr lang="en-US" sz="1250" dirty="0"/>
          </a:p>
        </p:txBody>
      </p:sp>
      <p:sp>
        <p:nvSpPr>
          <p:cNvPr id="65" name="Shape 63"/>
          <p:cNvSpPr/>
          <p:nvPr/>
        </p:nvSpPr>
        <p:spPr>
          <a:xfrm>
            <a:off x="6327648" y="3977640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73952" y="3922776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AD8"/>
                </a:solidFill>
              </a:rPr>
              <a:t>ChannelCards component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327648" y="4251960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73952" y="4197096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AD8"/>
                </a:solidFill>
              </a:rPr>
              <a:t>ConflictList with polling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327648" y="4526280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73952" y="4471416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AD8"/>
                </a:solidFill>
              </a:rPr>
              <a:t>InsightPanel + Sync button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AWS INFRA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infrastructure — inside Cognizant's environment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298448"/>
            <a:ext cx="2606040" cy="1481328"/>
          </a:xfrm>
          <a:prstGeom prst="rect">
            <a:avLst/>
          </a:prstGeom>
          <a:solidFill>
            <a:srgbClr val="15223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298448"/>
            <a:ext cx="2606040" cy="420624"/>
          </a:xfrm>
          <a:prstGeom prst="rect">
            <a:avLst/>
          </a:prstGeom>
          <a:solidFill>
            <a:srgbClr val="F4A261">
              <a:alpha val="7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98448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EC2 t2.micro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38912" y="175564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</a:rPr>
              <a:t>Main application server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2048256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ECAD8"/>
                </a:solidFill>
              </a:rPr>
              <a:t>Runs FastAPI + LangGraph. SSH in, start uvicorn. Free tier eligible.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298448"/>
            <a:ext cx="2606040" cy="1481328"/>
          </a:xfrm>
          <a:prstGeom prst="rect">
            <a:avLst/>
          </a:prstGeom>
          <a:solidFill>
            <a:srgbClr val="152231"/>
          </a:solidFill>
          <a:ln w="12700">
            <a:solidFill>
              <a:srgbClr val="6C63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298448"/>
            <a:ext cx="2606040" cy="420624"/>
          </a:xfrm>
          <a:prstGeom prst="rect">
            <a:avLst/>
          </a:prstGeom>
          <a:solidFill>
            <a:srgbClr val="6C63D6">
              <a:alpha val="75000"/>
            </a:srgbClr>
          </a:solidFill>
          <a:ln w="12700">
            <a:solidFill>
              <a:srgbClr val="6C63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298448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RDS PostgreSQL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37560" y="175564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3D6"/>
                </a:solidFill>
              </a:rPr>
              <a:t>Managed database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2048256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ECAD8"/>
                </a:solidFill>
              </a:rPr>
              <a:t>db.t3.micro free tier. SQLAlchemy connects automatically. 5-minute setup.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44768" y="1298448"/>
            <a:ext cx="2606040" cy="1481328"/>
          </a:xfrm>
          <a:prstGeom prst="rect">
            <a:avLst/>
          </a:prstGeom>
          <a:solidFill>
            <a:srgbClr val="15223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44768" y="1298448"/>
            <a:ext cx="2606040" cy="420624"/>
          </a:xfrm>
          <a:prstGeom prst="rect">
            <a:avLst/>
          </a:prstGeom>
          <a:solidFill>
            <a:srgbClr val="028090">
              <a:alpha val="7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1298448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Lambda + EventBridge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36208" y="175564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</a:rPr>
              <a:t>Scheduled pipeline trigger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36208" y="2048256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ECAD8"/>
                </a:solidFill>
              </a:rPr>
              <a:t>EventBridge fires Lambda every 60s → calls FastAPI /sync. Fully serverless.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7472" y="2944368"/>
            <a:ext cx="2606040" cy="1481328"/>
          </a:xfrm>
          <a:prstGeom prst="rect">
            <a:avLst/>
          </a:prstGeom>
          <a:solidFill>
            <a:srgbClr val="152231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2944368"/>
            <a:ext cx="2606040" cy="420624"/>
          </a:xfrm>
          <a:prstGeom prst="rect">
            <a:avLst/>
          </a:prstGeom>
          <a:solidFill>
            <a:srgbClr val="02C39A">
              <a:alpha val="7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2944368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S3 + CloudFront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38912" y="340156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</a:rPr>
              <a:t>React frontend hosting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8912" y="3694176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ECAD8"/>
                </a:solidFill>
              </a:rPr>
              <a:t>npm run build → upload dist/ to S3. CloudFront gives clean HTTPS URL.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46120" y="2944368"/>
            <a:ext cx="2606040" cy="1481328"/>
          </a:xfrm>
          <a:prstGeom prst="rect">
            <a:avLst/>
          </a:prstGeom>
          <a:solidFill>
            <a:srgbClr val="15223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2944368"/>
            <a:ext cx="2606040" cy="420624"/>
          </a:xfrm>
          <a:prstGeom prst="rect">
            <a:avLst/>
          </a:prstGeom>
          <a:solidFill>
            <a:srgbClr val="C9A84C">
              <a:alpha val="7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2944368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API Gateway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337560" y="340156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</a:rPr>
              <a:t>Public REST endpoints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37560" y="3694176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ECAD8"/>
                </a:solidFill>
              </a:rPr>
              <a:t>Routes api.yourdomain/  to EC2. Clean URLs for the demo.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44768" y="2944368"/>
            <a:ext cx="2606040" cy="1481328"/>
          </a:xfrm>
          <a:prstGeom prst="rect">
            <a:avLst/>
          </a:prstGeom>
          <a:solidFill>
            <a:srgbClr val="152231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44768" y="2944368"/>
            <a:ext cx="2606040" cy="420624"/>
          </a:xfrm>
          <a:prstGeom prst="rect">
            <a:avLst/>
          </a:prstGeom>
          <a:solidFill>
            <a:srgbClr val="E63946">
              <a:alpha val="75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6208" y="2944368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AWS Bedrock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236208" y="340156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</a:rPr>
              <a:t>LLM provider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36208" y="3694176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ECAD8"/>
                </a:solidFill>
              </a:rPr>
              <a:t>Claude Haiku model. No external API keys. Runs inside AWS. Cognizant-safe.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47472" y="4526280"/>
            <a:ext cx="8430768" cy="365760"/>
          </a:xfrm>
          <a:prstGeom prst="rect">
            <a:avLst/>
          </a:prstGeom>
          <a:solidFill>
            <a:srgbClr val="0A1820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4526280"/>
            <a:ext cx="8430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A261"/>
                </a:solidFill>
              </a:rPr>
              <a:t>Total AWS setup time during hackathon: 2 hours  |  All services within Cognizant's provided AWS environment  |  Zero external dependencies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DEMO PLAN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5-minute demo — step by step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judges will see on May 7. Every step is prepared and rehearsed.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" y="1389888"/>
            <a:ext cx="8430768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4EB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389888"/>
            <a:ext cx="73152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389888"/>
            <a:ext cx="914400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389888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0:00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42646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</a:rPr>
              <a:t>Open dashboard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463040" y="171907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Show React dashboard with 3-channel stock overview. Point out the channel cards — live data already flowing.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" y="2093976"/>
            <a:ext cx="8430768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4EB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2093976"/>
            <a:ext cx="73152" cy="6217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2093976"/>
            <a:ext cx="914400" cy="6217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093976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1:00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21305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</a:rPr>
              <a:t>Trigger a conflict live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463040" y="242316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Update SKU-101 price via mock API. Conflict alert appears in &lt;5 seconds. This is the wow moment — judges lean in.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7472" y="2798064"/>
            <a:ext cx="8430768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4EB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" y="2798064"/>
            <a:ext cx="73152" cy="6217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2798064"/>
            <a:ext cx="914400" cy="6217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798064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2:00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2834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</a:rPr>
              <a:t>Show the AI brief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463040" y="3127248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Click Insight Feed. Read the LLM brief aloud. Say: 'No human wrote this — the Insight Agent generated it automatically.'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7472" y="3502152"/>
            <a:ext cx="8430768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4EB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3502152"/>
            <a:ext cx="73152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3502152"/>
            <a:ext cx="914400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3502152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3:00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63040" y="35387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</a:rPr>
              <a:t>Architecture walkthrough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463040" y="3831336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One slide: channels → FastAPI → LangGraph (3 nodes) → PostgreSQL → React. 60 seconds max. Keep it crisp.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7472" y="4206240"/>
            <a:ext cx="8430768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4EB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7472" y="4206240"/>
            <a:ext cx="73152" cy="621792"/>
          </a:xfrm>
          <a:prstGeom prst="rect">
            <a:avLst/>
          </a:prstGeom>
          <a:solidFill>
            <a:srgbClr val="6C63D6"/>
          </a:solidFill>
          <a:ln w="12700">
            <a:solidFill>
              <a:srgbClr val="6C63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" y="4206240"/>
            <a:ext cx="914400" cy="621792"/>
          </a:xfrm>
          <a:prstGeom prst="rect">
            <a:avLst/>
          </a:prstGeom>
          <a:solidFill>
            <a:srgbClr val="6C63D6"/>
          </a:solidFill>
          <a:ln w="12700">
            <a:solidFill>
              <a:srgbClr val="6C63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420624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4:00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463040" y="42428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</a:rPr>
              <a:t>Business close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463040" y="4535424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'63M Indian SMEs lose 15% revenue to this problem daily. ArthaSync eliminates it. ROI-positive in 6 weeks.'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47472" y="4919472"/>
            <a:ext cx="8430768" cy="438912"/>
          </a:xfrm>
          <a:prstGeom prst="rect">
            <a:avLst/>
          </a:prstGeom>
          <a:solidFill>
            <a:srgbClr val="FEF0EE"/>
          </a:solidFill>
          <a:ln w="10160">
            <a:solidFill>
              <a:srgbClr val="E639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91947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63946"/>
                </a:solidFill>
              </a:rPr>
              <a:t>Backup plan: Record a 2-min walkthrough video on May 5 and upload to S3. If live demo breaks, play video immediately — don't debug in front of judges.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2D9B6A"/>
          </a:solidFill>
          <a:ln w="12700">
            <a:solidFill>
              <a:srgbClr val="2D9B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BUSINESS VALUE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Measurable impact — every number backed by data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298448"/>
            <a:ext cx="1965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B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1344168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47472" y="187452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faster conflict resolution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87168" y="1298448"/>
            <a:ext cx="1965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B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87168" y="1344168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hrs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87168" y="187452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saved per store per week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1298448"/>
            <a:ext cx="1965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B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1344168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617720" y="187452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revenue loss eliminated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48272" y="1298448"/>
            <a:ext cx="1965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B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48272" y="1344168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9B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wks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748272" y="187452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time to ROI-positive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7472" y="2487168"/>
            <a:ext cx="8430768" cy="384048"/>
          </a:xfrm>
          <a:prstGeom prst="rect">
            <a:avLst/>
          </a:prstGeom>
          <a:solidFill>
            <a:srgbClr val="152231"/>
          </a:solidFill>
          <a:ln w="3810">
            <a:solidFill>
              <a:srgbClr val="1A2E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" y="2487168"/>
            <a:ext cx="2286000" cy="384048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8716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</a:rPr>
              <a:t>User experience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743200" y="2487168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8D8"/>
                </a:solidFill>
              </a:rPr>
              <a:t>Zero 'item unavailable' errors after online ordering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47472" y="2916936"/>
            <a:ext cx="8430768" cy="384048"/>
          </a:xfrm>
          <a:prstGeom prst="rect">
            <a:avLst/>
          </a:prstGeom>
          <a:solidFill>
            <a:srgbClr val="0A1820"/>
          </a:solidFill>
          <a:ln w="3810">
            <a:solidFill>
              <a:srgbClr val="1A2E3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" y="2916936"/>
            <a:ext cx="2286000" cy="384048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91693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</a:rPr>
              <a:t>Operations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743200" y="2916936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8D8"/>
                </a:solidFill>
              </a:rPr>
              <a:t>One dashboard replaces 3 separate management tools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47472" y="3346704"/>
            <a:ext cx="8430768" cy="384048"/>
          </a:xfrm>
          <a:prstGeom prst="rect">
            <a:avLst/>
          </a:prstGeom>
          <a:solidFill>
            <a:srgbClr val="152231"/>
          </a:solidFill>
          <a:ln w="3810">
            <a:solidFill>
              <a:srgbClr val="1A2E3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3346704"/>
            <a:ext cx="2286000" cy="384048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34670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</a:rPr>
              <a:t>Pricing integrity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743200" y="3346704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8D8"/>
                </a:solidFill>
              </a:rPr>
              <a:t>No competitor can exploit your price inconsistencies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47472" y="3776472"/>
            <a:ext cx="8430768" cy="384048"/>
          </a:xfrm>
          <a:prstGeom prst="rect">
            <a:avLst/>
          </a:prstGeom>
          <a:solidFill>
            <a:srgbClr val="0A1820"/>
          </a:solidFill>
          <a:ln w="3810">
            <a:solidFill>
              <a:srgbClr val="1A2E3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" y="3776472"/>
            <a:ext cx="2286000" cy="384048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77647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</a:rPr>
              <a:t>Scalability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743200" y="3776472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8D8"/>
                </a:solidFill>
              </a:rPr>
              <a:t>From 1 store to 500 stores — zero architecture change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47472" y="4206240"/>
            <a:ext cx="8430768" cy="384048"/>
          </a:xfrm>
          <a:prstGeom prst="rect">
            <a:avLst/>
          </a:prstGeom>
          <a:solidFill>
            <a:srgbClr val="152231"/>
          </a:solidFill>
          <a:ln w="3810">
            <a:solidFill>
              <a:srgbClr val="1A2E3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7472" y="4206240"/>
            <a:ext cx="2286000" cy="384048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20624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</a:rPr>
              <a:t>Intelligence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743200" y="4206240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8D8"/>
                </a:solidFill>
              </a:rPr>
              <a:t>LLM brief replaces 2 hours of manual reporting per day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WHY WE WIN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ArthaSync scores on every judging criterion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Judges score on: Business Impact · Innovation · Technical Strength · Scalability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" y="1389888"/>
            <a:ext cx="4041648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389888"/>
            <a:ext cx="4041648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898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Business impact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82112" y="138988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9.5/10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" y="1956816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11096"/>
            <a:ext cx="362102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63M SME market with no solution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" y="2212848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167128"/>
            <a:ext cx="362102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15% revenue loss — proven stat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" y="2468880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423160"/>
            <a:ext cx="362102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ROI positive in 6 weeks — specific claim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" y="2724912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679192"/>
            <a:ext cx="362102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Real Cognizant retail clients face this daily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1389888"/>
            <a:ext cx="4041648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389888"/>
            <a:ext cx="4041648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13898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Innovation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98080" y="138988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9/10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00600" y="1956816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1911096"/>
            <a:ext cx="362102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Multi-agent LangGraph pipeline is novel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2212848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2167128"/>
            <a:ext cx="362102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LLM-generated manager briefs — not just alerts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00600" y="2468880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2423160"/>
            <a:ext cx="362102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Historical framing (Arthashastra) shows depth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0600" y="2724912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2679192"/>
            <a:ext cx="362102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Agent collaboration with state passing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7472" y="3081528"/>
            <a:ext cx="4041648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C63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7472" y="3081528"/>
            <a:ext cx="4041648" cy="457200"/>
          </a:xfrm>
          <a:prstGeom prst="rect">
            <a:avLst/>
          </a:prstGeom>
          <a:solidFill>
            <a:srgbClr val="6C63D6"/>
          </a:solidFill>
          <a:ln w="12700">
            <a:solidFill>
              <a:srgbClr val="6C63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0815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Technical strength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182112" y="308152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9/10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4632" y="3648456"/>
            <a:ext cx="91440" cy="91440"/>
          </a:xfrm>
          <a:prstGeom prst="ellipse">
            <a:avLst/>
          </a:prstGeom>
          <a:solidFill>
            <a:srgbClr val="6C63D6"/>
          </a:solidFill>
          <a:ln w="12700">
            <a:solidFill>
              <a:srgbClr val="6C63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602736"/>
            <a:ext cx="362102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Live working demo, not screenshots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4632" y="3904488"/>
            <a:ext cx="91440" cy="91440"/>
          </a:xfrm>
          <a:prstGeom prst="ellipse">
            <a:avLst/>
          </a:prstGeom>
          <a:solidFill>
            <a:srgbClr val="6C63D6"/>
          </a:solidFill>
          <a:ln w="12700">
            <a:solidFill>
              <a:srgbClr val="6C63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858768"/>
            <a:ext cx="362102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Full-stack: React + FastAPI + LangGraph + PostgreSQL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4632" y="4160520"/>
            <a:ext cx="91440" cy="91440"/>
          </a:xfrm>
          <a:prstGeom prst="ellipse">
            <a:avLst/>
          </a:prstGeom>
          <a:solidFill>
            <a:srgbClr val="6C63D6"/>
          </a:solidFill>
          <a:ln w="12700">
            <a:solidFill>
              <a:srgbClr val="6C63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114800"/>
            <a:ext cx="362102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AWS Bedrock — no external dependencies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4632" y="4416552"/>
            <a:ext cx="91440" cy="91440"/>
          </a:xfrm>
          <a:prstGeom prst="ellipse">
            <a:avLst/>
          </a:prstGeom>
          <a:solidFill>
            <a:srgbClr val="6C63D6"/>
          </a:solidFill>
          <a:ln w="12700">
            <a:solidFill>
              <a:srgbClr val="6C63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4370832"/>
            <a:ext cx="362102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Real-time polling with conflict detection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663440" y="3081528"/>
            <a:ext cx="4041648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63440" y="3081528"/>
            <a:ext cx="4041648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73168" y="30815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Scalability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498080" y="308152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8.5/10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800600" y="3648456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56048" y="3602736"/>
            <a:ext cx="362102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PostgreSQL handles 1 to 100,000 SKUs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800600" y="3904488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56048" y="3858768"/>
            <a:ext cx="362102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Lambda triggers scale with zero config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800600" y="4160520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56048" y="4114800"/>
            <a:ext cx="362102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Agent nodes independently deployable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800600" y="4416552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56048" y="4370832"/>
            <a:ext cx="362102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Containerised services on AWS ECS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TEAM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roles — built around each member's strength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325880"/>
            <a:ext cx="8430768" cy="749808"/>
          </a:xfrm>
          <a:prstGeom prst="rect">
            <a:avLst/>
          </a:prstGeom>
          <a:solidFill>
            <a:srgbClr val="152231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325880"/>
            <a:ext cx="804672" cy="749808"/>
          </a:xfrm>
          <a:prstGeom prst="rect">
            <a:avLst/>
          </a:prstGeom>
          <a:solidFill>
            <a:srgbClr val="C9A84C">
              <a:alpha val="8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325880"/>
            <a:ext cx="804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3898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AI Architect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34440" y="174650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ECAD8"/>
                </a:solidFill>
              </a:rPr>
              <a:t>LangGraph pipeline, FastAPI backend, AWS Bedrock integration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1490472"/>
            <a:ext cx="2304288" cy="420624"/>
          </a:xfrm>
          <a:prstGeom prst="roundRect">
            <a:avLst>
              <a:gd name="adj" fmla="val 21739"/>
            </a:avLst>
          </a:prstGeom>
          <a:solidFill>
            <a:srgbClr val="C9A84C">
              <a:alpha val="20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490472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</a:rPr>
              <a:t>Python · LangGraph · FastAPI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2194560"/>
            <a:ext cx="8430768" cy="749808"/>
          </a:xfrm>
          <a:prstGeom prst="rect">
            <a:avLst/>
          </a:prstGeom>
          <a:solidFill>
            <a:srgbClr val="152231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194560"/>
            <a:ext cx="804672" cy="749808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194560"/>
            <a:ext cx="804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22585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Frontend Lead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234440" y="261518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ECAD8"/>
                </a:solidFill>
              </a:rPr>
              <a:t>React dashboard, real-time polling, conflict UI, demo screens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9360" y="2359152"/>
            <a:ext cx="2304288" cy="420624"/>
          </a:xfrm>
          <a:prstGeom prst="roundRect">
            <a:avLst>
              <a:gd name="adj" fmla="val 21739"/>
            </a:avLst>
          </a:prstGeom>
          <a:solidFill>
            <a:srgbClr val="028090">
              <a:alpha val="2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359152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</a:rPr>
              <a:t>React · Axios · CSS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" y="3063240"/>
            <a:ext cx="8430768" cy="749808"/>
          </a:xfrm>
          <a:prstGeom prst="rect">
            <a:avLst/>
          </a:prstGeom>
          <a:solidFill>
            <a:srgbClr val="152231"/>
          </a:solidFill>
          <a:ln w="10160">
            <a:solidFill>
              <a:srgbClr val="02C3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3063240"/>
            <a:ext cx="804672" cy="749808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063240"/>
            <a:ext cx="804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31272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Backend + Infra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234440" y="348386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ECAD8"/>
                </a:solidFill>
              </a:rPr>
              <a:t>AWS setup, PostgreSQL schema, EC2 deploy, EventBridge scheduler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09360" y="3227832"/>
            <a:ext cx="2304288" cy="420624"/>
          </a:xfrm>
          <a:prstGeom prst="roundRect">
            <a:avLst>
              <a:gd name="adj" fmla="val 21739"/>
            </a:avLst>
          </a:prstGeom>
          <a:solidFill>
            <a:srgbClr val="02C39A">
              <a:alpha val="20000"/>
            </a:srgbClr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227832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</a:rPr>
              <a:t>AWS · PostgreSQL · Docker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3931920"/>
            <a:ext cx="8430768" cy="749808"/>
          </a:xfrm>
          <a:prstGeom prst="rect">
            <a:avLst/>
          </a:prstGeom>
          <a:solidFill>
            <a:srgbClr val="152231"/>
          </a:solidFill>
          <a:ln w="10160">
            <a:solidFill>
              <a:srgbClr val="6C63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3931920"/>
            <a:ext cx="804672" cy="749808"/>
          </a:xfrm>
          <a:prstGeom prst="rect">
            <a:avLst/>
          </a:prstGeom>
          <a:solidFill>
            <a:srgbClr val="6C63D6">
              <a:alpha val="80000"/>
            </a:srgbClr>
          </a:solidFill>
          <a:ln w="12700">
            <a:solidFill>
              <a:srgbClr val="6C63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931920"/>
            <a:ext cx="804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63D6"/>
                </a:solidFill>
              </a:rPr>
              <a:t>04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34440" y="39959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Research + Pitch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234440" y="435254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ECAD8"/>
                </a:solidFill>
              </a:rPr>
              <a:t>Presentation, business case, market data, demo rehearsal script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09360" y="4096512"/>
            <a:ext cx="2304288" cy="420624"/>
          </a:xfrm>
          <a:prstGeom prst="roundRect">
            <a:avLst>
              <a:gd name="adj" fmla="val 21739"/>
            </a:avLst>
          </a:prstGeom>
          <a:solidFill>
            <a:srgbClr val="6C63D6">
              <a:alpha val="20000"/>
            </a:srgbClr>
          </a:solidFill>
          <a:ln w="6350">
            <a:solidFill>
              <a:srgbClr val="6C63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4096512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63D6"/>
                </a:solidFill>
              </a:rPr>
              <a:t>Market research · Storytelling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7472" y="4773168"/>
            <a:ext cx="8430768" cy="228600"/>
          </a:xfrm>
          <a:prstGeom prst="rect">
            <a:avLst/>
          </a:prstGeom>
          <a:solidFill>
            <a:srgbClr val="0A1820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4773168"/>
            <a:ext cx="8247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</a:rPr>
              <a:t>24-hour plan: AWS setup (0–2h) → Agents working (2–10h) → Integration (10–18h) → Polish + demo (18–22h) → Pitch prep (22–24h)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2286000"/>
            <a:ext cx="3657600" cy="3657600"/>
          </a:xfrm>
          <a:prstGeom prst="ellipse">
            <a:avLst/>
          </a:prstGeom>
          <a:solidFill>
            <a:srgbClr val="C9A84C">
              <a:alpha val="7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926080"/>
            <a:ext cx="2286000" cy="2286000"/>
          </a:xfrm>
          <a:prstGeom prst="ellipse">
            <a:avLst/>
          </a:prstGeom>
          <a:solidFill>
            <a:srgbClr val="028090">
              <a:alpha val="12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731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321 BC.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47472" y="141732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Chanakya unified India's commerce. One truth. One standard. One platform.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7472" y="2121408"/>
            <a:ext cx="45720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230428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2026.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47472" y="294436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ArthaSync does the same for omnichannel retail.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7472" y="3566160"/>
            <a:ext cx="45720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3749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Retail · Unified Commerce · Cognizant Technoverse 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" y="41148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</a:rPr>
              <a:t>Team ArthaSync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0" y="3703320"/>
            <a:ext cx="3291840" cy="1005840"/>
          </a:xfrm>
          <a:prstGeom prst="roundRect">
            <a:avLst>
              <a:gd name="adj" fmla="val 9091"/>
            </a:avLst>
          </a:prstGeom>
          <a:solidFill>
            <a:srgbClr val="0A182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37490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</a:rPr>
              <a:t>₹5 Lakh Prize Pool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0" y="422452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+ Cognizant Internship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ArthaSync — Unified Commerce Intelligence</dc:title>
  <dc:subject>PptxGenJS Presentation</dc:subject>
  <dc:creator>Team ArthaSync</dc:creator>
  <cp:lastModifiedBy>Team ArthaSync</cp:lastModifiedBy>
  <cp:revision>1</cp:revision>
  <dcterms:created xsi:type="dcterms:W3CDTF">2026-04-12T05:12:30Z</dcterms:created>
  <dcterms:modified xsi:type="dcterms:W3CDTF">2026-04-12T05:12:30Z</dcterms:modified>
</cp:coreProperties>
</file>